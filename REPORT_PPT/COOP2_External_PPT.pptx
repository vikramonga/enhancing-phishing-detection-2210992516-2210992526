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9" r:id="rId14"/>
    <p:sldId id="276" r:id="rId15"/>
    <p:sldId id="277" r:id="rId16"/>
    <p:sldId id="268" r:id="rId1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>
        <p:scale>
          <a:sx n="66" d="100"/>
          <a:sy n="66" d="100"/>
        </p:scale>
        <p:origin x="1819" y="45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Phishing Detection Using Hybrid ML–LLM Models with SHAP Explainability for AI-Generated Attacks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Vikramjeet Singh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Monga</a:t>
            </a: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;Varun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Jindal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2210992526;2210992516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Simarjit Kaur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131288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is one of the fastest-growing cybersecurity threats affecting individuals, organizations, and government systems worldwide. Attackers create fake websites, emails, and URLs to steal sensitive information such as passwords, banking credentials, and personal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rise of Generative AI tools, phishing attacks have become: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realistic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personalized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Harder to identify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detection systems mainly rely on static rules or handcrafted features, which makes them ineffective against modern AI-generated phishing attacks.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strong need for a detection system that is: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identifying attacks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evolving threats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security analysts and users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Hybrid Machine Learning and Large Language Model framework integrated with SHAP explainability to solve these challenges.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E7B67-5A67-10C2-779D-25C13FC7B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C23A5E50-0FC4-11C2-96AD-E9C80E0CF9C8}"/>
              </a:ext>
            </a:extLst>
          </p:cNvPr>
          <p:cNvSpPr txBox="1"/>
          <p:nvPr/>
        </p:nvSpPr>
        <p:spPr>
          <a:xfrm>
            <a:off x="466344" y="271371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sz="3200" dirty="0"/>
              <a:t>Problem Statement</a:t>
            </a:r>
          </a:p>
          <a:p>
            <a:pPr algn="ctr">
              <a:lnSpc>
                <a:spcPct val="100000"/>
              </a:lnSpc>
            </a:pPr>
            <a:endParaRPr lang="en-US" sz="30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C1A59A7-69B2-5BC7-3708-E3E4543D150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507A48EA-F2F5-3EE5-130C-F0AB22624B1B}"/>
              </a:ext>
            </a:extLst>
          </p:cNvPr>
          <p:cNvSpPr txBox="1"/>
          <p:nvPr/>
        </p:nvSpPr>
        <p:spPr>
          <a:xfrm>
            <a:off x="305280" y="1329198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continues to be one of the most dangerous cyber threats globally, causing financial losses, identity theft, and organizational security breaches.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Challenges: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tools generate highly convincing phishing content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fail to detect sophisticated phishing patterns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often behave like black boxes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explainability reduces trust in automated security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Problem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we design a phishing detection framework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both traditional and AI-generated phishing attacks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 detection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explainable and trustworthy predictions </a:t>
            </a:r>
          </a:p>
        </p:txBody>
      </p:sp>
    </p:spTree>
    <p:extLst>
      <p:ext uri="{BB962C8B-B14F-4D97-AF65-F5344CB8AC3E}">
        <p14:creationId xmlns:p14="http://schemas.microsoft.com/office/powerpoint/2010/main" val="281186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1D8A5-7B7F-62AB-972D-3A9DBE69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6136A8E-EB1A-CF2F-56C4-064E8F584F5B}"/>
              </a:ext>
            </a:extLst>
          </p:cNvPr>
          <p:cNvSpPr txBox="1"/>
          <p:nvPr/>
        </p:nvSpPr>
        <p:spPr>
          <a:xfrm>
            <a:off x="2023992" y="13680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6D57035-C92F-DEBC-6CC0-EBB9503A688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7474B44-92D8-ABEF-CC99-4C31CDECF35C}"/>
              </a:ext>
            </a:extLst>
          </p:cNvPr>
          <p:cNvSpPr txBox="1"/>
          <p:nvPr/>
        </p:nvSpPr>
        <p:spPr>
          <a:xfrm>
            <a:off x="152640" y="837720"/>
            <a:ext cx="8838720" cy="575510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intelligent Hybrid ML–LLM phishing detection system capable of identifying modern phishing attacks with high accuracy and explainability.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robust phishing detection framework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Machine Learning and Large Language Models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AI-generated phishing attempts effectively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SHAP for model interpretability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detection accuracy and reliability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false positives and false negatives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An ensemble machine learning algorithm that detects phishing using multiple decision trees for better accuracy.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An advanced boosting algorithm that improves phishing detection speed and performance.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 lightweight language model used to understand and analyze phishing text semantically.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Explainability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 technique that explains how different features influence the model’s predictions. 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969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95A80-371A-A329-2C27-60D8E559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69074B1-EA7B-E3B3-5544-FDEF61B6CBAB}"/>
              </a:ext>
            </a:extLst>
          </p:cNvPr>
          <p:cNvSpPr txBox="1"/>
          <p:nvPr/>
        </p:nvSpPr>
        <p:spPr>
          <a:xfrm>
            <a:off x="182880" y="35391"/>
            <a:ext cx="7333488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&amp; Limitations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6D507A28-BF87-130F-8885-F87E84847A8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E6290E98-9525-C372-D953-20E4DC05BB70}"/>
              </a:ext>
            </a:extLst>
          </p:cNvPr>
          <p:cNvSpPr txBox="1"/>
          <p:nvPr/>
        </p:nvSpPr>
        <p:spPr>
          <a:xfrm>
            <a:off x="305280" y="1195530"/>
            <a:ext cx="4605048" cy="535766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Machine Learning Approaches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 heavily on handcrafted features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adapt quickly to new phishing techniques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contextual understanding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Approaches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very large datasets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expensive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interpret predictions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4DED86-153E-196F-3621-A33C3BDF94E3}"/>
              </a:ext>
            </a:extLst>
          </p:cNvPr>
          <p:cNvSpPr txBox="1"/>
          <p:nvPr/>
        </p:nvSpPr>
        <p:spPr>
          <a:xfrm>
            <a:off x="4809384" y="1195530"/>
            <a:ext cx="38770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contextual and semantic understanding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detection of AI-generated phishing text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 as black-box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transparency and explainability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905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A1F7E-6F7C-6F1D-88B9-4901839CD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C9F12B1-6959-3F45-E33B-CA8FD556885B}"/>
              </a:ext>
            </a:extLst>
          </p:cNvPr>
          <p:cNvSpPr txBox="1"/>
          <p:nvPr/>
        </p:nvSpPr>
        <p:spPr>
          <a:xfrm>
            <a:off x="1600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21E80F3F-AC77-E935-A76E-F421B9C0053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7C7CE-CDD6-3A40-DD3B-93FFAB993828}"/>
              </a:ext>
            </a:extLst>
          </p:cNvPr>
          <p:cNvSpPr txBox="1"/>
          <p:nvPr/>
        </p:nvSpPr>
        <p:spPr>
          <a:xfrm>
            <a:off x="246888" y="1060704"/>
            <a:ext cx="834847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Hybrid ML–LLM Framework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the capabilities of Machine Learning (ML) models and Large Language Models (LLMs) to improve phishing detection accuracy and reliability. ML models are used for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structural URL-based features, while LLMs are used for understanding the semantic meaning and context of phishing text.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&amp;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URL-based phishing detection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such as URL length, suspicious keywords, HTTPS presence, and special characters.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text-based phishing analysis by understanding the context and language patterns of phishing emails and messages.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Explainability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identify which features most influenced the prediction, making the model transparent and trustworthy.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Advantages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 phishing detection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Adapts effectively to modern and AI-generated phishing attacks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structural and semantic analysis for better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transparent and explainable predictions using SHAP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false positives and improves reliability of the system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487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9953C-A917-9F95-C578-CCE653DE7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BB76200-04FC-DF3E-7EA6-410FC7C13EE0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AE449C23-5BD0-B2EF-306B-FBCB11ACC16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14701AD-BDB1-F14F-CF1D-AD8DEE8E0F5A}"/>
              </a:ext>
            </a:extLst>
          </p:cNvPr>
          <p:cNvSpPr txBox="1"/>
          <p:nvPr/>
        </p:nvSpPr>
        <p:spPr>
          <a:xfrm>
            <a:off x="457200" y="1009714"/>
            <a:ext cx="8838720" cy="558311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Dataset Size: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651,000+ URLs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datasets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PhishTank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phishing samples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Labels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Benign (0)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Safe URLs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Malicious (1)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Phishing URLs 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entries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Eliminated missing or corrupted values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class imbalance using sampling techniques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text into machine-readable format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dataset into: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Training Data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Testing Data </a:t>
            </a:r>
          </a:p>
        </p:txBody>
      </p:sp>
    </p:spTree>
    <p:extLst>
      <p:ext uri="{BB962C8B-B14F-4D97-AF65-F5344CB8AC3E}">
        <p14:creationId xmlns:p14="http://schemas.microsoft.com/office/powerpoint/2010/main" val="4187886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C7FC3-41AA-0E64-F855-752D85134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CFA7D2B8-541F-98A9-20D2-8B2D364B5FE7}"/>
              </a:ext>
            </a:extLst>
          </p:cNvPr>
          <p:cNvSpPr txBox="1"/>
          <p:nvPr/>
        </p:nvSpPr>
        <p:spPr>
          <a:xfrm>
            <a:off x="457200" y="0"/>
            <a:ext cx="72237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&amp; Models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6016AABA-BA8E-9DAA-C89C-85C51DA17CC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59C582F6-1BC4-25DB-3761-D05CE87282CD}"/>
              </a:ext>
            </a:extLst>
          </p:cNvPr>
          <p:cNvSpPr txBox="1"/>
          <p:nvPr/>
        </p:nvSpPr>
        <p:spPr>
          <a:xfrm>
            <a:off x="152640" y="1097325"/>
            <a:ext cx="3870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URL-Based Features Extracted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Length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Special Characters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 Presence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Entropy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Keywords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IP Address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Redirection Symbols 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(Baseline Model) 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2CD270-386C-8435-6B82-39F769681525}"/>
              </a:ext>
            </a:extLst>
          </p:cNvPr>
          <p:cNvSpPr txBox="1"/>
          <p:nvPr/>
        </p:nvSpPr>
        <p:spPr>
          <a:xfrm>
            <a:off x="4023360" y="1097325"/>
            <a:ext cx="45076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Analysis Model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AI-generated phishing messages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understanding of phishing content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846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E5F14-55FA-A894-9786-3FDE2E3A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4388485-5EF3-FBB0-E3D4-53817A294F25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Architecture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1BAC4680-880D-D422-7028-9CECB953E27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D234956-1A5E-AB1F-5D23-D850CDE0968E}"/>
              </a:ext>
            </a:extLst>
          </p:cNvPr>
          <p:cNvSpPr txBox="1"/>
          <p:nvPr/>
        </p:nvSpPr>
        <p:spPr>
          <a:xfrm>
            <a:off x="0" y="1146318"/>
            <a:ext cx="8838720" cy="5574882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1600" b="1" dirty="0"/>
              <a:t>Architecture Overview</a:t>
            </a:r>
          </a:p>
          <a:p>
            <a:r>
              <a:rPr lang="en-US" sz="1600" dirty="0"/>
              <a:t>The proposed system uses a dual-input architecture:</a:t>
            </a:r>
          </a:p>
          <a:p>
            <a:r>
              <a:rPr lang="en-US" sz="1600" b="1" dirty="0"/>
              <a:t>Input 1 – URL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Processed using: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Random Forest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XGBoost</a:t>
            </a:r>
            <a:r>
              <a:rPr lang="en-US" sz="1600" dirty="0"/>
              <a:t> </a:t>
            </a:r>
          </a:p>
          <a:p>
            <a:r>
              <a:rPr lang="en-US" sz="1600" b="1" dirty="0"/>
              <a:t>Input 2 – Text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Processed using: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DistilBERT</a:t>
            </a:r>
            <a:r>
              <a:rPr lang="en-US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Fusion Mechanism</a:t>
            </a:r>
          </a:p>
          <a:p>
            <a:r>
              <a:rPr lang="en-US" sz="1600" dirty="0"/>
              <a:t>Predictions from ML and LLM models are combined using a weighted ensemble approach.</a:t>
            </a:r>
          </a:p>
          <a:p>
            <a:r>
              <a:rPr lang="en-US" sz="1600" b="1" dirty="0"/>
              <a:t>Final Output</a:t>
            </a:r>
          </a:p>
          <a:p>
            <a:r>
              <a:rPr lang="en-US" sz="1600" dirty="0"/>
              <a:t>Probability score for phishing detection </a:t>
            </a:r>
          </a:p>
          <a:p>
            <a:r>
              <a:rPr lang="en-US" sz="1600" dirty="0"/>
              <a:t>Final classification: </a:t>
            </a:r>
          </a:p>
          <a:p>
            <a:pPr lvl="1"/>
            <a:r>
              <a:rPr lang="en-US" sz="1600" dirty="0"/>
              <a:t>Safe </a:t>
            </a:r>
          </a:p>
          <a:p>
            <a:pPr lvl="1"/>
            <a:r>
              <a:rPr lang="en-US" sz="1600" dirty="0"/>
              <a:t>Malicious </a:t>
            </a:r>
          </a:p>
          <a:p>
            <a:r>
              <a:rPr lang="en-US" sz="1600" b="1" dirty="0"/>
              <a:t>Key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Improved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Better generalization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Effective detection of AI-generated attacks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Explainable outputs using SHAP</a:t>
            </a:r>
          </a:p>
        </p:txBody>
      </p:sp>
    </p:spTree>
    <p:extLst>
      <p:ext uri="{BB962C8B-B14F-4D97-AF65-F5344CB8AC3E}">
        <p14:creationId xmlns:p14="http://schemas.microsoft.com/office/powerpoint/2010/main" val="3299043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29FB3-8FD7-C077-1B50-0870F3F1D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2BA3430-0F92-B242-E0A9-743535FA4948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9173414-F328-BB9B-5184-5D476103D55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A95B497-9B33-49CF-0B34-D113D492B4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93877"/>
              </p:ext>
            </p:extLst>
          </p:nvPr>
        </p:nvGraphicFramePr>
        <p:xfrm>
          <a:off x="607096" y="2309149"/>
          <a:ext cx="741415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386">
                  <a:extLst>
                    <a:ext uri="{9D8B030D-6E8A-4147-A177-3AD203B41FA5}">
                      <a16:colId xmlns:a16="http://schemas.microsoft.com/office/drawing/2014/main" val="856525211"/>
                    </a:ext>
                  </a:extLst>
                </a:gridCol>
                <a:gridCol w="2471386">
                  <a:extLst>
                    <a:ext uri="{9D8B030D-6E8A-4147-A177-3AD203B41FA5}">
                      <a16:colId xmlns:a16="http://schemas.microsoft.com/office/drawing/2014/main" val="1168863724"/>
                    </a:ext>
                  </a:extLst>
                </a:gridCol>
                <a:gridCol w="2471386">
                  <a:extLst>
                    <a:ext uri="{9D8B030D-6E8A-4147-A177-3AD203B41FA5}">
                      <a16:colId xmlns:a16="http://schemas.microsoft.com/office/drawing/2014/main" val="9562465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F1-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253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623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XG 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71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DistilBERT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077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Hybrid ML-LLM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98.5%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0000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EB63EEE-5620-B450-509E-9BCD64264D47}"/>
              </a:ext>
            </a:extLst>
          </p:cNvPr>
          <p:cNvSpPr txBox="1"/>
          <p:nvPr/>
        </p:nvSpPr>
        <p:spPr>
          <a:xfrm>
            <a:off x="607096" y="1554315"/>
            <a:ext cx="5688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Comparison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6722AE-7E4E-48FD-F0D7-B48D0A7592C8}"/>
              </a:ext>
            </a:extLst>
          </p:cNvPr>
          <p:cNvSpPr txBox="1"/>
          <p:nvPr/>
        </p:nvSpPr>
        <p:spPr>
          <a:xfrm>
            <a:off x="607096" y="4548851"/>
            <a:ext cx="71942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demonstrate that the proposed Hybrid ML–LLM framework significantly outperforms individual models in both accuracy and F1-score. By combining structural URL analysis with semantic text understanding, the system provides more robust and reliable detection of modern AI-generated phishing attacks.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885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975E4-2DD2-DA74-F904-7DC68FB5A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DFF74AC1-AB42-81DA-5DF1-6EAED0CF727D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0196D28-4017-318D-99F8-BD9983BD83A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C90D7BA-1707-BC8B-C200-629B579BDE41}"/>
              </a:ext>
            </a:extLst>
          </p:cNvPr>
          <p:cNvSpPr txBox="1"/>
          <p:nvPr/>
        </p:nvSpPr>
        <p:spPr>
          <a:xfrm>
            <a:off x="216648" y="1366330"/>
            <a:ext cx="8672709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Hybrid ML–LLM framework achieved the highest accuracy and F1-score compared to standalone models.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showed strong performance against AI-generated phishing attacks with an F1-score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94.7%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baseline models achieved only around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87%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URL-based analysis with semantic text understanding improved overall detection capability and robustness.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Explainability Results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analysis identified the most important features influencing predictions, including: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entropy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keywords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 presence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Urgency-based linguistic patterns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explanations improve transparency and help security analysts understand why a URL or message is classified as phishing.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530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24857-B36B-DC73-F589-78F9FB023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9A1A947-7E43-1C75-90F6-C3E8D882F39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691C0791-2C5A-2E74-C346-C22ED332C36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AB531B8-6C1F-40C0-9445-91D51BFA6CC3}"/>
              </a:ext>
            </a:extLst>
          </p:cNvPr>
          <p:cNvSpPr txBox="1"/>
          <p:nvPr/>
        </p:nvSpPr>
        <p:spPr>
          <a:xfrm>
            <a:off x="0" y="1146318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successfully developed a Hybrid ML–LLM phishing detection framework capable of identifying both traditional and AI-generated phishing attacks.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Contributions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detection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robustness against evolving threats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predictions using SHAP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phishing behavior 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deployment in SOC environments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browser extensions and email filters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of AI-generated phishing datasets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for faster inference speed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on cloud-based security platforms </a:t>
            </a:r>
          </a:p>
        </p:txBody>
      </p:sp>
    </p:spTree>
    <p:extLst>
      <p:ext uri="{BB962C8B-B14F-4D97-AF65-F5344CB8AC3E}">
        <p14:creationId xmlns:p14="http://schemas.microsoft.com/office/powerpoint/2010/main" val="966717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34888</TotalTime>
  <Words>1145</Words>
  <Application>Microsoft Office PowerPoint</Application>
  <PresentationFormat>On-screen Show (4:3)</PresentationFormat>
  <Paragraphs>230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Vikramjeet Monga</cp:lastModifiedBy>
  <cp:revision>2304</cp:revision>
  <dcterms:created xsi:type="dcterms:W3CDTF">2010-04-09T07:36:15Z</dcterms:created>
  <dcterms:modified xsi:type="dcterms:W3CDTF">2026-05-18T08:41:55Z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